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373bc50fde4422" /><Relationship Type="http://schemas.openxmlformats.org/officeDocument/2006/relationships/extended-properties" Target="/docProps/app.xml" Id="R6ab9470d60d7408e" /><Relationship Type="http://schemas.openxmlformats.org/officeDocument/2006/relationships/officeDocument" Target="/ppt/presentation.xml" Id="R1cd20e29a76348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3b877df9f14771"/>
  </p:sldMasterIdLst>
  <p:notesMasterIdLst>
    <p:notesMasterId xmlns:r="http://schemas.openxmlformats.org/officeDocument/2006/relationships" r:id="R05c591f28fed48f8"/>
  </p:notesMasterIdLst>
  <p:sldIdLst>
    <p:sldId xmlns:r="http://schemas.openxmlformats.org/officeDocument/2006/relationships" id="256" r:id="R237e5a4af94b4883"/>
    <p:sldId xmlns:r="http://schemas.openxmlformats.org/officeDocument/2006/relationships" id="257" r:id="R200c0796491048b4"/>
    <p:sldId xmlns:r="http://schemas.openxmlformats.org/officeDocument/2006/relationships" id="258" r:id="R09cf09a4ef0d437d"/>
    <p:sldId xmlns:r="http://schemas.openxmlformats.org/officeDocument/2006/relationships" id="259" r:id="Rb38f3c19b53c4f00"/>
    <p:sldId xmlns:r="http://schemas.openxmlformats.org/officeDocument/2006/relationships" id="260" r:id="R833c3c31e92f49ae"/>
    <p:sldId xmlns:r="http://schemas.openxmlformats.org/officeDocument/2006/relationships" id="261" r:id="R9a8cd9db692a4ec5"/>
    <p:sldId xmlns:r="http://schemas.openxmlformats.org/officeDocument/2006/relationships" id="262" r:id="Re1411ab7d31a4a11"/>
    <p:sldId xmlns:r="http://schemas.openxmlformats.org/officeDocument/2006/relationships" id="263" r:id="Rf5cf660231844855"/>
    <p:sldId xmlns:r="http://schemas.openxmlformats.org/officeDocument/2006/relationships" id="264" r:id="R5e9b25b3bf2a4df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22653495b54e04" /><Relationship Type="http://schemas.openxmlformats.org/officeDocument/2006/relationships/slideMaster" Target="/ppt/slideMasters/slideMaster1.xml" Id="Rba3b877df9f14771" /><Relationship Type="http://schemas.openxmlformats.org/officeDocument/2006/relationships/notesMaster" Target="/ppt/notesMasters/notesMaster1.xml" Id="R05c591f28fed48f8" /><Relationship Type="http://schemas.openxmlformats.org/officeDocument/2006/relationships/presProps" Target="/ppt/presProps.xml" Id="Ra417b6c974d1429f" /><Relationship Type="http://schemas.openxmlformats.org/officeDocument/2006/relationships/tableStyles" Target="/ppt/tableStyles.xml" Id="R22fac8c351014b4c" /><Relationship Type="http://schemas.openxmlformats.org/officeDocument/2006/relationships/slide" Target="/ppt/slides/slide1.xml" Id="R237e5a4af94b4883" /><Relationship Type="http://schemas.openxmlformats.org/officeDocument/2006/relationships/slide" Target="/ppt/slides/slide2.xml" Id="R200c0796491048b4" /><Relationship Type="http://schemas.openxmlformats.org/officeDocument/2006/relationships/slide" Target="/ppt/slides/slide3.xml" Id="R09cf09a4ef0d437d" /><Relationship Type="http://schemas.openxmlformats.org/officeDocument/2006/relationships/slide" Target="/ppt/slides/slide4.xml" Id="Rb38f3c19b53c4f00" /><Relationship Type="http://schemas.openxmlformats.org/officeDocument/2006/relationships/slide" Target="/ppt/slides/slide5.xml" Id="R833c3c31e92f49ae" /><Relationship Type="http://schemas.openxmlformats.org/officeDocument/2006/relationships/slide" Target="/ppt/slides/slide6.xml" Id="R9a8cd9db692a4ec5" /><Relationship Type="http://schemas.openxmlformats.org/officeDocument/2006/relationships/slide" Target="/ppt/slides/slide7.xml" Id="Re1411ab7d31a4a11" /><Relationship Type="http://schemas.openxmlformats.org/officeDocument/2006/relationships/slide" Target="/ppt/slides/slide8.xml" Id="Rf5cf660231844855" /><Relationship Type="http://schemas.openxmlformats.org/officeDocument/2006/relationships/slide" Target="/ppt/slides/slide9.xml" Id="R5e9b25b3bf2a4d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543e6cc29543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8f5e473b6045f0" /><Relationship Type="http://schemas.openxmlformats.org/officeDocument/2006/relationships/notesMaster" Target="/ppt/notesMasters/notesMaster1.xml" Id="R247f5d9adf4047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562a287c1e4a0c" /><Relationship Type="http://schemas.openxmlformats.org/officeDocument/2006/relationships/notesMaster" Target="/ppt/notesMasters/notesMaster1.xml" Id="Ra7c154ed6f6c4d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7a13c8f1c44f51" /><Relationship Type="http://schemas.openxmlformats.org/officeDocument/2006/relationships/notesMaster" Target="/ppt/notesMasters/notesMaster1.xml" Id="R7054bc0bb7a54f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35a4bb5c9e4540" /><Relationship Type="http://schemas.openxmlformats.org/officeDocument/2006/relationships/notesMaster" Target="/ppt/notesMasters/notesMaster1.xml" Id="R806913a4533841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b723032edc4c3b" /><Relationship Type="http://schemas.openxmlformats.org/officeDocument/2006/relationships/notesMaster" Target="/ppt/notesMasters/notesMaster1.xml" Id="R5910c37c97464d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5661d00c424d10" /><Relationship Type="http://schemas.openxmlformats.org/officeDocument/2006/relationships/notesMaster" Target="/ppt/notesMasters/notesMaster1.xml" Id="R292b34a1caeb47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3c704fd0324898" /><Relationship Type="http://schemas.openxmlformats.org/officeDocument/2006/relationships/notesMaster" Target="/ppt/notesMasters/notesMaster1.xml" Id="Rab8a707c9ceb41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18740b6e3546eb" /><Relationship Type="http://schemas.openxmlformats.org/officeDocument/2006/relationships/notesMaster" Target="/ppt/notesMasters/notesMaster1.xml" Id="R0ab6651013c74a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03997d056f4786" /><Relationship Type="http://schemas.openxmlformats.org/officeDocument/2006/relationships/notesMaster" Target="/ppt/notesMasters/notesMaster1.xml" Id="R3555f630bbae4d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e0808aaa7540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a0af384f7245b4" /><Relationship Type="http://schemas.openxmlformats.org/officeDocument/2006/relationships/slideLayout" Target="/ppt/slideLayouts/slideLayout1.xml" Id="R85d3d027316b4f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d3d027316b4f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be3c9cf1c4d57" /><Relationship Type="http://schemas.openxmlformats.org/officeDocument/2006/relationships/notesSlide" Target="/ppt/notesSlides/notesSlide1.xml" Id="R9eaf2a08919a45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6705caf9e45fd" /><Relationship Type="http://schemas.openxmlformats.org/officeDocument/2006/relationships/image" Target="/ppt/media/image.png" Id="R4bfd54f46020452c" /><Relationship Type="http://schemas.openxmlformats.org/officeDocument/2006/relationships/notesSlide" Target="/ppt/notesSlides/notesSlide2.xml" Id="R0e17ee3ff98c41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77bfcb4634db6" /><Relationship Type="http://schemas.openxmlformats.org/officeDocument/2006/relationships/notesSlide" Target="/ppt/notesSlides/notesSlide3.xml" Id="R1ada992dc6f34e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dc50db2d64888" /><Relationship Type="http://schemas.openxmlformats.org/officeDocument/2006/relationships/notesSlide" Target="/ppt/notesSlides/notesSlide4.xml" Id="Rc6b7201b942846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686c848b4422b" /><Relationship Type="http://schemas.openxmlformats.org/officeDocument/2006/relationships/notesSlide" Target="/ppt/notesSlides/notesSlide5.xml" Id="Rd47dc34f85a04b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0b4f44c894b08" /><Relationship Type="http://schemas.openxmlformats.org/officeDocument/2006/relationships/notesSlide" Target="/ppt/notesSlides/notesSlide6.xml" Id="R9c52393f355440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bbf855f0144a4" /><Relationship Type="http://schemas.openxmlformats.org/officeDocument/2006/relationships/image" Target="/ppt/media/image2.png" Id="R89b08660e7484b4a" /><Relationship Type="http://schemas.openxmlformats.org/officeDocument/2006/relationships/notesSlide" Target="/ppt/notesSlides/notesSlide7.xml" Id="R86d84954850f48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0af85bb4f4990" /><Relationship Type="http://schemas.openxmlformats.org/officeDocument/2006/relationships/notesSlide" Target="/ppt/notesSlides/notesSlide8.xml" Id="Rf09e529947964c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bd5d6c6084655" /><Relationship Type="http://schemas.openxmlformats.org/officeDocument/2006/relationships/notesSlide" Target="/ppt/notesSlides/notesSlide9.xml" Id="Rc2542ae14bf942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89F569-0C0A-4078-ADF1-4616732B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81BE0-290D-498B-A9C3-C21C3644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3A8A"/>
                </a:solidFill>
              </a:defRPr>
            </a:pPr>
            <a:r>
              <a:rPr sz="2100" b="1">
                <a:solidFill>
                  <a:srgbClr val="1E3A8A"/>
                </a:solidFill>
              </a:rPr>
              <a:t>Melann Lending System V2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EE297-9CED-4DF2-A0AF-467D17C4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F172A"/>
                </a:solidFill>
              </a:defRPr>
            </a:pPr>
            <a:r>
              <a:rPr sz="4200" b="1">
                <a:solidFill>
                  <a:srgbClr val="0F172A"/>
                </a:solidFill>
              </a:rPr>
              <a:t>Report Module and Report Types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21C80-7BA0-458E-B59A-E30FD734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Documentation deck covering purpose, descriptions, advantages, problems, limitations, and recommended next steps.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844D2-6B58-4FC3-8114-B703920C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FA556-95BB-4538-9B49-7695604F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015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841BE-3E9D-4BF5-AB27-B9CC1D57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954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Collection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A58030-66B9-4970-90F2-76594AFD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0015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241EC-98A4-4B40-9570-4EC697DC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0015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EBAA4-0D42-44A2-AE54-10837133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4954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Releases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E10BB6-33DC-4C9F-8E80-EC169AE3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5745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1B0BD-8454-4DA7-81FB-90148A6A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5745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085F58-2853-4563-93F0-DB83728C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527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Maturity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02B7C-0FE1-48FD-9EBF-CAEAB8DA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CAC6F8-D16F-45A0-A0F7-8908FA06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40B3D4-D2E8-4CAF-B003-68DB9B4B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527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DCR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42AC0-64DB-41E3-B0CE-7A56734C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1475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1F6FF9-F665-475C-B34A-A66D7564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1475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D635E7-A885-466C-9CBD-D115457D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100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Reversed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14107C-5B34-4BA9-9AD8-409F1219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EC2E77-E783-470A-8234-6FB24DF2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387619-3586-40AF-83C3-DD832357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100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Monitoring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318EF2-787D-42A9-BAE0-23942F0A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244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3A8A"/>
                </a:solidFill>
              </a:defRPr>
            </a:pPr>
            <a:r>
              <a:rPr sz="1500" b="1">
                <a:solidFill>
                  <a:srgbClr val="1E3A8A"/>
                </a:solidFill>
              </a:rPr>
              <a:t>with DCR as separate finance 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E93686-C6A8-4F70-9169-FF5D1BB3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Prepared July 14, 2026</a:t>
            </a:r>
          </a:p>
        </p:txBody>
      </p:sp>
    </p:spTree>
    <p:extLst>
      <p:ext uri="{BB962C8B-B14F-4D97-AF65-F5344CB8AC3E}">
        <p14:creationId xmlns:p14="http://schemas.microsoft.com/office/powerpoint/2010/main" val="7728432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B646B5-98B3-48D2-B09A-37EA16EF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REPORT MODULE DOCUMENTATION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5B3D9-862E-40C9-9921-8A2EBBD8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The module turns daily transactions into operational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7C0C2-97EF-4940-8FB1-D07B53E6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d54f46020452c"/>
          <a:stretch xmlns:a="http://schemas.openxmlformats.org/drawingml/2006/main"/>
        </p:blipFill>
        <p:spPr>
          <a:xfrm xmlns:a="http://schemas.openxmlformats.org/drawingml/2006/main">
            <a:off x="1879787" y="1790700"/>
            <a:ext cx="8432426" cy="4095750"/>
          </a:xfrm>
          <a:prstGeom xmlns:a="http://schemas.openxmlformats.org/drawingml/2006/main" prst="roundRect">
            <a:avLst>
              <a:gd name="adj" fmla="val 1860"/>
            </a:avLst>
          </a:prstGeom>
        </p:spPr>
      </p:pic>
    </p:spTree>
    <p:extLst>
      <p:ext uri="{BB962C8B-B14F-4D97-AF65-F5344CB8AC3E}">
        <p14:creationId xmlns:p14="http://schemas.microsoft.com/office/powerpoint/2010/main" val="12664614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1425E4-0B95-4EA0-9CFE-5B33D8E6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REPORT MODULE DOCUMENTATION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14E85-8267-4732-8CB8-CBB5C233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Current inventory has UI, finance, and backend-only layers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A6CDF-AF85-468B-8BF4-3EDF823B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672E0-8CF6-472A-B172-E5869EAB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3190875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4A403-3EE0-4225-BFE5-89E1168D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Visible Reports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E7D60-3934-4548-B9FD-FD59821F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86100"/>
            <a:ext cx="2714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Collection, Releases, Maturity, Reversed Payments, Full Paid, Collection Sheet, Disclosure, Monitoring.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2352B1-28BB-4D4F-9118-67B1F5B3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095500"/>
            <a:ext cx="3190875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5313A-927D-4BE8-A154-85E57A3E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6220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3A8A"/>
                </a:solidFill>
              </a:defRPr>
            </a:pPr>
            <a:r>
              <a:rPr sz="1875" b="1">
                <a:solidFill>
                  <a:srgbClr val="1E3A8A"/>
                </a:solidFill>
              </a:rPr>
              <a:t>Separate Finance Report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615BE-88BD-4DAC-98E9-C155EF56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86100"/>
            <a:ext cx="2714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Daily Cash Report lives outside the Reports sidebar because it has close, cash, bank, and compliance handoff workflows.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8E85F-6041-4DB3-B5D3-8685BBC3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3190875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A313E-7A78-4573-A37B-47F760DB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Backend / README Candidates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8A965-2081-499B-B010-EBF43DAC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86100"/>
            <a:ext cx="2714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Loan Type Summary and Payments Encoded still appear in backend or documentation but are not current sidebar items.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0665A5-CE4E-4DBE-B5C7-BA4BF001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Main documentation risk: users may expect reports that are documented but not currently visible, or miss DCR because it is under Finance.</a:t>
            </a:r>
          </a:p>
        </p:txBody>
      </p:sp>
    </p:spTree>
    <p:extLst>
      <p:ext uri="{BB962C8B-B14F-4D97-AF65-F5344CB8AC3E}">
        <p14:creationId xmlns:p14="http://schemas.microsoft.com/office/powerpoint/2010/main" val="8082164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B9A6EE-45E1-4A85-A343-4F4846FF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REPORT MODULE DOCUMENTATION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782F6-3D89-43E0-8B5B-0FCFC52D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Collections and releases are the daily operating heartbeat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43B0B-E4A8-4EF6-9334-F0A3B1F3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4FFB5-1110-44E4-A849-503294CC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489585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8A160-BC05-4556-B136-E7E54B4A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A34A"/>
                </a:solidFill>
              </a:defRPr>
            </a:pPr>
            <a:r>
              <a:rPr sz="2250" b="1">
                <a:solidFill>
                  <a:srgbClr val="16A34A"/>
                </a:solidFill>
              </a:rPr>
              <a:t>Collection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91016-06FC-477B-9264-341C2DD2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Shows daily/monthly payments by date range, grouped by collector.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ADDC1-8DD9-440E-BD70-36D0AD12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426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Advantage: fast cash collection review and collector accountability.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B61DC-3434-4512-8D26-45189C8B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C2626"/>
                </a:solidFill>
              </a:defRPr>
            </a:pPr>
            <a:r>
              <a:rPr sz="1425" b="0">
                <a:solidFill>
                  <a:srgbClr val="DC2626"/>
                </a:solidFill>
              </a:rPr>
              <a:t>Limit: depends on active payment status, correct collector links, and consistent branch filters.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EE878-7D30-48AD-BD96-31CDA6E8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489585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26954-8CF5-47BB-88C3-E938BC47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479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3A8A"/>
                </a:solidFill>
              </a:defRPr>
            </a:pPr>
            <a:r>
              <a:rPr sz="2250" b="1">
                <a:solidFill>
                  <a:srgbClr val="1E3A8A"/>
                </a:solidFill>
              </a:rPr>
              <a:t>Releases 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60D8F-75BD-4A88-B549-08EB76BD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9560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Shows loans released by date or cycle with principal totals and loan type split.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D9BF6-6CC4-48DC-8A0B-30A0E4F9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62375"/>
            <a:ext cx="426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Advantage: monitors cash-out and production by collector.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7F1E3-8FF3-45C1-B717-8B974CEE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52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C2626"/>
                </a:solidFill>
              </a:defRPr>
            </a:pPr>
            <a:r>
              <a:rPr sz="1425" b="0">
                <a:solidFill>
                  <a:srgbClr val="DC2626"/>
                </a:solidFill>
              </a:rPr>
              <a:t>Limit: release totals may use principal while DCR cash-out should prefer net proceeds.</a:t>
            </a:r>
          </a:p>
        </p:txBody>
      </p:sp>
    </p:spTree>
    <p:extLst>
      <p:ext uri="{BB962C8B-B14F-4D97-AF65-F5344CB8AC3E}">
        <p14:creationId xmlns:p14="http://schemas.microsoft.com/office/powerpoint/2010/main" val="4621892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EE1380-58D7-4F7E-A9B2-8103D68F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REPORT MODULE DOCUMENTATION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D7EC4-132C-4682-8290-447AEB9A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Exception and lifecycle reports support control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91A75-7611-43C9-9E38-57E702D7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6745F-B71D-4329-980A-0F24B5F8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52625"/>
            <a:ext cx="981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E2FCE-BEF0-40CF-BFF9-60BA669F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431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791F"/>
                </a:solidFill>
              </a:defRPr>
            </a:pPr>
            <a:r>
              <a:rPr sz="1875" b="1">
                <a:solidFill>
                  <a:srgbClr val="B7791F"/>
                </a:solidFill>
              </a:rPr>
              <a:t>Maturity Checker / Past Due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17E3C-D187-4DF0-A11B-C1F1C84F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431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Prioritizes accounts by maturity range and remaining balance.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4374A-6E9C-44BE-8F48-70154DD1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9925"/>
            <a:ext cx="981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055C2-E187-471A-BD02-90925BBF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004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Payments Reversed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98755-993F-4C47-B312-A36C404C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004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Audits reversed payments with user, reason, customer, and amount.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B7C43F-124A-4BEA-BD43-3F7C8F44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67225"/>
            <a:ext cx="981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E96805-90A6-49AD-96EA-7BCA9633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A34A"/>
                </a:solidFill>
              </a:defRPr>
            </a:pPr>
            <a:r>
              <a:rPr sz="1875" b="1">
                <a:solidFill>
                  <a:srgbClr val="16A34A"/>
                </a:solidFill>
              </a:rPr>
              <a:t>Full Paid Loans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BE905-53FD-4C8F-B5A6-AA623B62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577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Lists completed accounts for re-loan targeting and completion metrics.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560FA-B7FF-4FBE-954A-CE285B89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245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Common limitation: these reports are only as strong as status mapping and date quality from loan/payment records.</a:t>
            </a:r>
          </a:p>
        </p:txBody>
      </p:sp>
    </p:spTree>
    <p:extLst>
      <p:ext uri="{BB962C8B-B14F-4D97-AF65-F5344CB8AC3E}">
        <p14:creationId xmlns:p14="http://schemas.microsoft.com/office/powerpoint/2010/main" val="17652926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9D260D-8048-49E2-BDC2-B7C8EAEA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REPORT MODULE DOCUMENTATION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946F5-B763-4D5A-826D-6010CC82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Field, client-facing, and monitoring reports cover different audiences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F7A4C-578F-43A6-B4CE-6EF6FD25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1B147-D2C2-42AF-ACE0-F4831FA1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2861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38AC1-CF1B-4255-B833-8ABB5476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286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FCDCA-A7EC-4D72-B738-35E28F31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3A8A"/>
                </a:solidFill>
              </a:defRPr>
            </a:pPr>
            <a:r>
              <a:rPr sz="2100" b="1">
                <a:solidFill>
                  <a:srgbClr val="1E3A8A"/>
                </a:solidFill>
              </a:rPr>
              <a:t>Collection Sheet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1CE52-B5F6-43F4-B1EF-822813B1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81375"/>
            <a:ext cx="2819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Per-collector active loan list for field collection and printed accountability.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0EFF1-C601-478E-9159-88345B7E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2861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088D0-AA4A-4367-AD23-13DEBE3C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286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B17A1-E382-41B1-B7ED-CC6063EC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41935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Disclosure Statement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21A12-D3DF-4EA4-8C41-AEBED775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381375"/>
            <a:ext cx="2819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Client loan disclosure generated from selected borrower and loan details.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37960-060C-467A-944E-F967F611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2861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5B118-ECEC-4D9C-99ED-81FFD7E6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286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60557-D394-43F9-BCDC-4BA7046F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1935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C2626"/>
                </a:solidFill>
              </a:defRPr>
            </a:pPr>
            <a:r>
              <a:rPr sz="2100" b="1">
                <a:solidFill>
                  <a:srgbClr val="DC2626"/>
                </a:solidFill>
              </a:rPr>
              <a:t>Monitoring Summary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8FBE9-214F-4647-AC61-16EE6772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81375"/>
            <a:ext cx="2819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Alerts, escalations, promise-to-pay data, follow-up logs, and resolutions.</a:t>
            </a:r>
          </a:p>
        </p:txBody>
      </p:sp>
    </p:spTree>
    <p:extLst>
      <p:ext uri="{BB962C8B-B14F-4D97-AF65-F5344CB8AC3E}">
        <p14:creationId xmlns:p14="http://schemas.microsoft.com/office/powerpoint/2010/main" val="9860747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95ABDD-EA4C-4303-9EA6-06E0749C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REPORT MODULE DOCUMENTATION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3D497-1837-425B-9E4A-4319A776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DCR is the accounting-critical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3038A-2E5F-4F38-856F-7D1C2848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08660e7484b4a"/>
          <a:stretch xmlns:a="http://schemas.openxmlformats.org/drawingml/2006/main"/>
        </p:blipFill>
        <p:spPr>
          <a:xfrm xmlns:a="http://schemas.openxmlformats.org/drawingml/2006/main">
            <a:off x="2148138" y="1695450"/>
            <a:ext cx="7895724" cy="4286250"/>
          </a:xfrm>
          <a:prstGeom xmlns:a="http://schemas.openxmlformats.org/drawingml/2006/main" prst="roundRect">
            <a:avLst>
              <a:gd name="adj" fmla="val 1778"/>
            </a:avLst>
          </a:prstGeom>
        </p:spPr>
      </p:pic>
    </p:spTree>
    <p:extLst>
      <p:ext uri="{BB962C8B-B14F-4D97-AF65-F5344CB8AC3E}">
        <p14:creationId xmlns:p14="http://schemas.microsoft.com/office/powerpoint/2010/main" val="3984856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967EA0-C471-4F5A-B67B-9CA1C00F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REPORT MODULE DOCUMENTATION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E8DED-30CF-4389-8329-C1190C91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Advantages and limitations should be managed as one control surface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4DA21-8AAD-4135-B57B-866F3F83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A24A0-D777-4ED8-A3B6-EEE4C9BF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28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479A9-93A5-41E7-9F53-4CEB34D7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Advantages: centralized access, collector grouping, print-friendly output, DCR reconciliation, and monitoring visibility.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9C33B-4F62-4B74-A912-501EF420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527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4D0EC-984F-4697-8013-035387B9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765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Limitations: report inventory mismatch across README, backend routes, and visible UI.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C629D-648C-4AA3-92CD-18EDE4CD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D3E61-616F-473B-BAED-97DA268E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04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DCR gaps: branch filtering, bank formulas, server-side close totals, DCR numbering, and exact legacy parity.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FE251-F7E0-4DF3-A4D2-56725794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005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A5BBB-CA90-4FFD-B29D-65A208F7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243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Export risk: browser print works, but critical reports may need controlled server-generated PDF/export paths.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BCA57B-0EAE-4BE5-9195-A3E3412C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24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EF9D4-6DE2-40EE-85F7-23E982EB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482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Data risk: statuses, dates, branch, collector, and reversal reasons must be encoded consistently.</a:t>
            </a:r>
          </a:p>
        </p:txBody>
      </p:sp>
    </p:spTree>
    <p:extLst>
      <p:ext uri="{BB962C8B-B14F-4D97-AF65-F5344CB8AC3E}">
        <p14:creationId xmlns:p14="http://schemas.microsoft.com/office/powerpoint/2010/main" val="14873766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66F673-2897-475B-A9BE-5F3248BD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REPORT MODULE DOCUMENTATION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4D821-C676-456A-9FED-702B9697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Recommended next steps before production hardening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9DC2E-39F5-4C65-94FB-CD766CF1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8273C-7D93-4DC9-88AB-D97CF560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57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2BFC5-948B-4A9A-B54C-2975AA7F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BEBCC-3184-44F2-8551-99ACD40E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383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Normalize inventory and labels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F1803-C0C3-4E87-A238-6AA8FFF6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00275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Align README, Reports UI, backend routes, and DCR placement.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79DA8-87B8-4496-9E60-B209FB7C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3F188-F50C-4FB4-8160-CCDAE37D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1B28C3-13FF-491C-BF7D-EE9834AA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Make backend totals authoritative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5EA28-7947-4595-8088-07E9D252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0040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Use formula services for DCR and cash-impacting reports.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DF6C9-EB73-4ABE-9BD2-0F44A0C7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168EC-5459-4EE9-97F8-05F10357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CE8A48-34D7-4C8C-A3F0-1C2FB201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385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Add branch-aware 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B4B554-8583-4D18-8274-C51E750B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00525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Protect reports used for cash and collector accountability.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7B34C-E5AC-45B1-8E70-180BEBB3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6D6D6F-28A8-473F-A294-2F5A16CC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B1F3DC-7681-4681-9B46-9A6ACA71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38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Decide backend-only reports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071B98-0B25-43B7-9A2B-FE50B94C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0065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Bring Loan Type and Payments Encoded into UI or remove from docs.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6A4E0E-08BC-4B70-80D4-16130359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4837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3A8A"/>
                </a:solidFill>
              </a:defRPr>
            </a:pPr>
            <a:r>
              <a:rPr sz="1725" b="1">
                <a:solidFill>
                  <a:srgbClr val="1E3A8A"/>
                </a:solidFill>
              </a:rPr>
              <a:t>Target outcome: screen, print, export, and persisted audit totals all tell the same story.</a:t>
            </a:r>
          </a:p>
        </p:txBody>
      </p:sp>
    </p:spTree>
    <p:extLst>
      <p:ext uri="{BB962C8B-B14F-4D97-AF65-F5344CB8AC3E}">
        <p14:creationId xmlns:p14="http://schemas.microsoft.com/office/powerpoint/2010/main" val="18964012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2026-07-14T04:32:05.3930000Z</dcterms:created>
  <dcterms:modified xsi:type="dcterms:W3CDTF">2026-07-14T04:32:05.3930000Z</dcterms:modified>
</coreProperties>
</file>